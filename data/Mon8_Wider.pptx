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Slab"/>
      <p:regular r:id="rId22"/>
      <p:bold r:id="rId23"/>
    </p:embeddedFont>
    <p:embeddedFont>
      <p:font typeface="Raleway"/>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Slab-regular.fntdata"/><Relationship Id="rId21" Type="http://schemas.openxmlformats.org/officeDocument/2006/relationships/slide" Target="slides/slide16.xml"/><Relationship Id="rId24" Type="http://schemas.openxmlformats.org/officeDocument/2006/relationships/font" Target="fonts/Raleway-regular.fntdata"/><Relationship Id="rId23" Type="http://schemas.openxmlformats.org/officeDocument/2006/relationships/font" Target="fonts/RobotoSlab-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Lato-regular.fntdata"/><Relationship Id="rId27"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6a0b8f01a0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6a0b8f01a0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2cabab01e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2cabab01e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 missing? So much.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level would be ‘worthiness’ or ‘appropriateness’ to map. We’ll discuss that more soon.</a:t>
            </a:r>
            <a:endParaRPr/>
          </a:p>
          <a:p>
            <a:pPr indent="0" lvl="0" marL="0" rtl="0" algn="l">
              <a:spcBef>
                <a:spcPts val="0"/>
              </a:spcBef>
              <a:spcAft>
                <a:spcPts val="0"/>
              </a:spcAft>
              <a:buNone/>
            </a:pPr>
            <a:r>
              <a:rPr lang="en"/>
              <a:t>The other would be the whole conception of an unidirectional flow from creator to viewer - that if we just get the design right, they’ll realize … blah blah.</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6a0b8f01a0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6a0b8f01a0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6a0b8f01a0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6a0b8f01a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6a0b8f01a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6a0b8f01a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2cabab01e5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2cabab01e5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6a0b8f01a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6a0b8f01a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a0b8f01a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a0b8f01a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a0b8f01a0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a0b8f01a0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6a0b8f01a0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6a0b8f01a0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a0b8f01a0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6a0b8f01a0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6a0b8f01a0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6a0b8f01a0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6a0b8f01a0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6a0b8f01a0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6a0b8f01a0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6a0b8f01a0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6a0b8f01a0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6a0b8f01a0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washingtonpost.com/graphics/2018/national/early-spring/" TargetMode="External"/><Relationship Id="rId4" Type="http://schemas.openxmlformats.org/officeDocument/2006/relationships/hyperlink" Target="https://www.buzzfeednews.com/article/peteraldhous/spies-in-the-ski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nytimes.com/interactive/2014/07/03/world/middleeast/syria-iraq-isis-rogue-state-along-two-rivers.html" TargetMode="External"/><Relationship Id="rId4" Type="http://schemas.openxmlformats.org/officeDocument/2006/relationships/hyperlink" Target="https://www.nytimes.com/interactive/2016/11/23/us/dakota-access-pipeline-protest-map.html" TargetMode="External"/><Relationship Id="rId5" Type="http://schemas.openxmlformats.org/officeDocument/2006/relationships/hyperlink" Target="https://somethingaboutmaps.wordpress.com/2015/09/28/a-matter-of-perspectiv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reuters.com/graphics/GLOBAL-ENVIRONMENT/SAND-POYANG/qzjpqxxabvx/" TargetMode="External"/><Relationship Id="rId4" Type="http://schemas.openxmlformats.org/officeDocument/2006/relationships/hyperlink" Target="https://www.nytimes.com/interactive/2021/05/24/us/tulsa-race-massacre.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Ever Wider World</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Turf.js Intro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Roboto Slab"/>
              <a:buChar char="●"/>
            </a:pPr>
            <a:r>
              <a:rPr lang="en">
                <a:latin typeface="Roboto Slab"/>
                <a:ea typeface="Roboto Slab"/>
                <a:cs typeface="Roboto Slab"/>
                <a:sym typeface="Roboto Slab"/>
              </a:rPr>
              <a:t>Review</a:t>
            </a:r>
            <a:endParaRPr>
              <a:latin typeface="Roboto Slab"/>
              <a:ea typeface="Roboto Slab"/>
              <a:cs typeface="Roboto Slab"/>
              <a:sym typeface="Roboto Slab"/>
            </a:endParaRPr>
          </a:p>
          <a:p>
            <a:pPr indent="-311150" lvl="0" marL="457200" rtl="0" algn="l">
              <a:spcBef>
                <a:spcPts val="0"/>
              </a:spcBef>
              <a:spcAft>
                <a:spcPts val="0"/>
              </a:spcAft>
              <a:buSzPts val="1300"/>
              <a:buFont typeface="Roboto Slab"/>
              <a:buChar char="●"/>
            </a:pPr>
            <a:r>
              <a:rPr lang="en">
                <a:latin typeface="Roboto Slab"/>
                <a:ea typeface="Roboto Slab"/>
                <a:cs typeface="Roboto Slab"/>
                <a:sym typeface="Roboto Slab"/>
              </a:rPr>
              <a:t>Discussion (from Friday)</a:t>
            </a:r>
            <a:endParaRPr>
              <a:latin typeface="Roboto Slab"/>
              <a:ea typeface="Roboto Slab"/>
              <a:cs typeface="Roboto Slab"/>
              <a:sym typeface="Roboto Slab"/>
            </a:endParaRPr>
          </a:p>
          <a:p>
            <a:pPr indent="-311150" lvl="0" marL="457200" rtl="0" algn="l">
              <a:spcBef>
                <a:spcPts val="0"/>
              </a:spcBef>
              <a:spcAft>
                <a:spcPts val="0"/>
              </a:spcAft>
              <a:buSzPts val="1300"/>
              <a:buFont typeface="Roboto Slab"/>
              <a:buChar char="●"/>
            </a:pPr>
            <a:r>
              <a:rPr lang="en">
                <a:latin typeface="Roboto Slab"/>
                <a:ea typeface="Roboto Slab"/>
                <a:cs typeface="Roboto Slab"/>
                <a:sym typeface="Roboto Slab"/>
              </a:rPr>
              <a:t>Turf.js ‘Activity’</a:t>
            </a:r>
            <a:endParaRPr>
              <a:latin typeface="Roboto Slab"/>
              <a:ea typeface="Roboto Slab"/>
              <a:cs typeface="Roboto Slab"/>
              <a:sym typeface="Roboto Slab"/>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Considerations of map design?</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oboto Slab"/>
              <a:buChar char="●"/>
            </a:pPr>
            <a:r>
              <a:rPr lang="en" sz="1800">
                <a:latin typeface="Roboto Slab"/>
                <a:ea typeface="Roboto Slab"/>
                <a:cs typeface="Roboto Slab"/>
                <a:sym typeface="Roboto Slab"/>
              </a:rPr>
              <a:t>Medium</a:t>
            </a:r>
            <a:endParaRPr sz="1800">
              <a:latin typeface="Roboto Slab"/>
              <a:ea typeface="Roboto Slab"/>
              <a:cs typeface="Roboto Slab"/>
              <a:sym typeface="Roboto Slab"/>
            </a:endParaRPr>
          </a:p>
          <a:p>
            <a:pPr indent="-342900" lvl="0" marL="457200" rtl="0" algn="l">
              <a:spcBef>
                <a:spcPts val="0"/>
              </a:spcBef>
              <a:spcAft>
                <a:spcPts val="0"/>
              </a:spcAft>
              <a:buSzPts val="1800"/>
              <a:buFont typeface="Roboto Slab"/>
              <a:buChar char="●"/>
            </a:pPr>
            <a:r>
              <a:rPr lang="en" sz="1800">
                <a:latin typeface="Roboto Slab"/>
                <a:ea typeface="Roboto Slab"/>
                <a:cs typeface="Roboto Slab"/>
                <a:sym typeface="Roboto Slab"/>
              </a:rPr>
              <a:t>Audience</a:t>
            </a:r>
            <a:endParaRPr sz="1800">
              <a:latin typeface="Roboto Slab"/>
              <a:ea typeface="Roboto Slab"/>
              <a:cs typeface="Roboto Slab"/>
              <a:sym typeface="Roboto Slab"/>
            </a:endParaRPr>
          </a:p>
          <a:p>
            <a:pPr indent="-342900" lvl="0" marL="457200" rtl="0" algn="l">
              <a:spcBef>
                <a:spcPts val="0"/>
              </a:spcBef>
              <a:spcAft>
                <a:spcPts val="0"/>
              </a:spcAft>
              <a:buSzPts val="1800"/>
              <a:buFont typeface="Roboto Slab"/>
              <a:buChar char="●"/>
            </a:pPr>
            <a:r>
              <a:rPr lang="en" sz="1800">
                <a:latin typeface="Roboto Slab"/>
                <a:ea typeface="Roboto Slab"/>
                <a:cs typeface="Roboto Slab"/>
                <a:sym typeface="Roboto Slab"/>
              </a:rPr>
              <a:t>Purpose</a:t>
            </a:r>
            <a:endParaRPr sz="1800">
              <a:latin typeface="Roboto Slab"/>
              <a:ea typeface="Roboto Slab"/>
              <a:cs typeface="Roboto Slab"/>
              <a:sym typeface="Roboto Slab"/>
            </a:endParaRPr>
          </a:p>
          <a:p>
            <a:pPr indent="0" lvl="0" marL="0" rtl="0" algn="l">
              <a:spcBef>
                <a:spcPts val="1200"/>
              </a:spcBef>
              <a:spcAft>
                <a:spcPts val="1200"/>
              </a:spcAft>
              <a:buNone/>
            </a:pPr>
            <a:r>
              <a:t/>
            </a:r>
            <a:endParaRPr/>
          </a:p>
        </p:txBody>
      </p:sp>
      <p:pic>
        <p:nvPicPr>
          <p:cNvPr id="100" name="Google Shape;100;p15"/>
          <p:cNvPicPr preferRelativeResize="0"/>
          <p:nvPr/>
        </p:nvPicPr>
        <p:blipFill>
          <a:blip r:embed="rId3">
            <a:alphaModFix/>
          </a:blip>
          <a:stretch>
            <a:fillRect/>
          </a:stretch>
        </p:blipFill>
        <p:spPr>
          <a:xfrm>
            <a:off x="3574675" y="2624975"/>
            <a:ext cx="4919850" cy="1495250"/>
          </a:xfrm>
          <a:prstGeom prst="rect">
            <a:avLst/>
          </a:prstGeom>
          <a:noFill/>
          <a:ln>
            <a:noFill/>
          </a:ln>
        </p:spPr>
      </p:pic>
      <p:sp>
        <p:nvSpPr>
          <p:cNvPr id="101" name="Google Shape;101;p15"/>
          <p:cNvSpPr txBox="1"/>
          <p:nvPr/>
        </p:nvSpPr>
        <p:spPr>
          <a:xfrm>
            <a:off x="3663625" y="4339975"/>
            <a:ext cx="618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Slab"/>
                <a:ea typeface="Roboto Slab"/>
                <a:cs typeface="Roboto Slab"/>
                <a:sym typeface="Roboto Slab"/>
              </a:rPr>
              <a:t>Anyone want to critique this?</a:t>
            </a:r>
            <a:endParaRPr>
              <a:latin typeface="Roboto Slab"/>
              <a:ea typeface="Roboto Slab"/>
              <a:cs typeface="Roboto Slab"/>
              <a:sym typeface="Roboto Slab"/>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 Visual Stories</a:t>
            </a:r>
            <a:endParaRPr/>
          </a:p>
        </p:txBody>
      </p:sp>
      <p:sp>
        <p:nvSpPr>
          <p:cNvPr id="107" name="Google Shape;107;p16"/>
          <p:cNvSpPr txBox="1"/>
          <p:nvPr>
            <p:ph idx="1" type="body"/>
          </p:nvPr>
        </p:nvSpPr>
        <p:spPr>
          <a:xfrm>
            <a:off x="729450" y="2078875"/>
            <a:ext cx="7688700" cy="282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91">
                <a:latin typeface="Roboto Slab"/>
                <a:ea typeface="Roboto Slab"/>
                <a:cs typeface="Roboto Slab"/>
                <a:sym typeface="Roboto Slab"/>
              </a:rPr>
              <a:t>“</a:t>
            </a:r>
            <a:r>
              <a:rPr lang="en" sz="1241">
                <a:solidFill>
                  <a:srgbClr val="6C6C6C"/>
                </a:solidFill>
                <a:latin typeface="Roboto Slab"/>
                <a:ea typeface="Roboto Slab"/>
                <a:cs typeface="Roboto Slab"/>
                <a:sym typeface="Roboto Slab"/>
              </a:rPr>
              <a:t>Static visual stories rely on conventional news maps that supplement journalistic reporting. These maps often provide spatial reference or support reporting with data-driven analysis. Much like the addition of photos, news maps provide visual interruptions in the body of text-based stories”</a:t>
            </a:r>
            <a:endParaRPr sz="1241">
              <a:solidFill>
                <a:srgbClr val="6C6C6C"/>
              </a:solidFill>
              <a:latin typeface="Roboto Slab"/>
              <a:ea typeface="Roboto Slab"/>
              <a:cs typeface="Roboto Slab"/>
              <a:sym typeface="Roboto Slab"/>
            </a:endParaRPr>
          </a:p>
          <a:p>
            <a:pPr indent="0" lvl="0" marL="0" rtl="0" algn="l">
              <a:spcBef>
                <a:spcPts val="1200"/>
              </a:spcBef>
              <a:spcAft>
                <a:spcPts val="0"/>
              </a:spcAft>
              <a:buNone/>
            </a:pPr>
            <a:r>
              <a:t/>
            </a:r>
            <a:endParaRPr sz="1241">
              <a:solidFill>
                <a:srgbClr val="6C6C6C"/>
              </a:solidFill>
              <a:latin typeface="Roboto Slab"/>
              <a:ea typeface="Roboto Slab"/>
              <a:cs typeface="Roboto Slab"/>
              <a:sym typeface="Roboto Slab"/>
            </a:endParaRPr>
          </a:p>
          <a:p>
            <a:pPr indent="0" lvl="0" marL="0" rtl="0" algn="l">
              <a:spcBef>
                <a:spcPts val="1200"/>
              </a:spcBef>
              <a:spcAft>
                <a:spcPts val="0"/>
              </a:spcAft>
              <a:buNone/>
            </a:pPr>
            <a:r>
              <a:rPr lang="en" sz="1241">
                <a:solidFill>
                  <a:srgbClr val="6C6C6C"/>
                </a:solidFill>
                <a:latin typeface="Roboto Slab"/>
                <a:ea typeface="Roboto Slab"/>
                <a:cs typeface="Roboto Slab"/>
                <a:sym typeface="Roboto Slab"/>
              </a:rPr>
              <a:t>Examples include:</a:t>
            </a:r>
            <a:endParaRPr sz="1241">
              <a:solidFill>
                <a:srgbClr val="6C6C6C"/>
              </a:solidFill>
              <a:latin typeface="Roboto Slab"/>
              <a:ea typeface="Roboto Slab"/>
              <a:cs typeface="Roboto Slab"/>
              <a:sym typeface="Roboto Slab"/>
            </a:endParaRPr>
          </a:p>
          <a:p>
            <a:pPr indent="0" lvl="0" marL="0" rtl="0" algn="l">
              <a:spcBef>
                <a:spcPts val="1200"/>
              </a:spcBef>
              <a:spcAft>
                <a:spcPts val="0"/>
              </a:spcAft>
              <a:buNone/>
            </a:pPr>
            <a:r>
              <a:rPr lang="en" sz="1291" u="sng">
                <a:solidFill>
                  <a:schemeClr val="hlink"/>
                </a:solidFill>
                <a:latin typeface="Roboto Slab"/>
                <a:ea typeface="Roboto Slab"/>
                <a:cs typeface="Roboto Slab"/>
                <a:sym typeface="Roboto Slab"/>
                <a:hlinkClick r:id="rId3"/>
              </a:rPr>
              <a:t>Spring is springing earlier and earlier - Washington Post</a:t>
            </a:r>
            <a:endParaRPr sz="1241">
              <a:solidFill>
                <a:srgbClr val="6C6C6C"/>
              </a:solidFill>
              <a:latin typeface="Roboto Slab"/>
              <a:ea typeface="Roboto Slab"/>
              <a:cs typeface="Roboto Slab"/>
              <a:sym typeface="Roboto Slab"/>
            </a:endParaRPr>
          </a:p>
          <a:p>
            <a:pPr indent="0" lvl="0" marL="0" rtl="0" algn="l">
              <a:spcBef>
                <a:spcPts val="1200"/>
              </a:spcBef>
              <a:spcAft>
                <a:spcPts val="0"/>
              </a:spcAft>
              <a:buNone/>
            </a:pPr>
            <a:r>
              <a:rPr lang="en" sz="1100" u="sng">
                <a:solidFill>
                  <a:schemeClr val="hlink"/>
                </a:solidFill>
                <a:latin typeface="Roboto Slab"/>
                <a:ea typeface="Roboto Slab"/>
                <a:cs typeface="Roboto Slab"/>
                <a:sym typeface="Roboto Slab"/>
                <a:hlinkClick r:id="rId4"/>
              </a:rPr>
              <a:t>See Maps Showing Where FBI Planes Are Watching From Above (buzzfeednews.com)</a:t>
            </a:r>
            <a:endParaRPr sz="1241">
              <a:solidFill>
                <a:srgbClr val="6C6C6C"/>
              </a:solidFill>
              <a:latin typeface="Roboto Slab"/>
              <a:ea typeface="Roboto Slab"/>
              <a:cs typeface="Roboto Slab"/>
              <a:sym typeface="Roboto Slab"/>
            </a:endParaRPr>
          </a:p>
          <a:p>
            <a:pPr indent="0" lvl="0" marL="0" rtl="0" algn="l">
              <a:spcBef>
                <a:spcPts val="1200"/>
              </a:spcBef>
              <a:spcAft>
                <a:spcPts val="1200"/>
              </a:spcAft>
              <a:buNone/>
            </a:pPr>
            <a:r>
              <a:t/>
            </a:r>
            <a:endParaRPr sz="1050">
              <a:solidFill>
                <a:srgbClr val="6C6C6C"/>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Longform Infographics</a:t>
            </a:r>
            <a:endParaRPr/>
          </a:p>
        </p:txBody>
      </p:sp>
      <p:sp>
        <p:nvSpPr>
          <p:cNvPr id="113" name="Google Shape;113;p17"/>
          <p:cNvSpPr txBox="1"/>
          <p:nvPr>
            <p:ph idx="1" type="body"/>
          </p:nvPr>
        </p:nvSpPr>
        <p:spPr>
          <a:xfrm>
            <a:off x="729450" y="2078875"/>
            <a:ext cx="7688700" cy="29775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0"/>
              </a:spcAft>
              <a:buNone/>
            </a:pPr>
            <a:r>
              <a:rPr lang="en" sz="2705">
                <a:solidFill>
                  <a:srgbClr val="6C6C6C"/>
                </a:solidFill>
                <a:latin typeface="Roboto Slab"/>
                <a:ea typeface="Roboto Slab"/>
                <a:cs typeface="Roboto Slab"/>
                <a:sym typeface="Roboto Slab"/>
              </a:rPr>
              <a:t>“Longform infographics rely on underlying maps as the primary mode of visual storytelling. Most suited for online and mobile environments, readers vertically scroll through the map to understand the story. Resembling traditional strip maps, longform infographics constrain the reader to a particular map extent and scale to guide the reader through a story and landscape.”</a:t>
            </a:r>
            <a:endParaRPr sz="2705">
              <a:solidFill>
                <a:srgbClr val="6C6C6C"/>
              </a:solidFill>
              <a:latin typeface="Roboto Slab"/>
              <a:ea typeface="Roboto Slab"/>
              <a:cs typeface="Roboto Slab"/>
              <a:sym typeface="Roboto Slab"/>
            </a:endParaRPr>
          </a:p>
          <a:p>
            <a:pPr indent="0" lvl="0" marL="0" rtl="0" algn="l">
              <a:spcBef>
                <a:spcPts val="1200"/>
              </a:spcBef>
              <a:spcAft>
                <a:spcPts val="0"/>
              </a:spcAft>
              <a:buNone/>
            </a:pPr>
            <a:r>
              <a:t/>
            </a:r>
            <a:endParaRPr sz="2705">
              <a:solidFill>
                <a:srgbClr val="6C6C6C"/>
              </a:solidFill>
              <a:latin typeface="Roboto Slab"/>
              <a:ea typeface="Roboto Slab"/>
              <a:cs typeface="Roboto Slab"/>
              <a:sym typeface="Roboto Slab"/>
            </a:endParaRPr>
          </a:p>
          <a:p>
            <a:pPr indent="0" lvl="0" marL="0" rtl="0" algn="l">
              <a:spcBef>
                <a:spcPts val="1200"/>
              </a:spcBef>
              <a:spcAft>
                <a:spcPts val="0"/>
              </a:spcAft>
              <a:buNone/>
            </a:pPr>
            <a:r>
              <a:rPr lang="en" sz="2705">
                <a:solidFill>
                  <a:srgbClr val="6C6C6C"/>
                </a:solidFill>
                <a:latin typeface="Roboto Slab"/>
                <a:ea typeface="Roboto Slab"/>
                <a:cs typeface="Roboto Slab"/>
                <a:sym typeface="Roboto Slab"/>
              </a:rPr>
              <a:t>Examples include:</a:t>
            </a:r>
            <a:endParaRPr sz="2705">
              <a:solidFill>
                <a:srgbClr val="6C6C6C"/>
              </a:solidFill>
              <a:latin typeface="Roboto Slab"/>
              <a:ea typeface="Roboto Slab"/>
              <a:cs typeface="Roboto Slab"/>
              <a:sym typeface="Roboto Slab"/>
            </a:endParaRPr>
          </a:p>
          <a:p>
            <a:pPr indent="0" lvl="0" marL="0" rtl="0" algn="l">
              <a:spcBef>
                <a:spcPts val="1200"/>
              </a:spcBef>
              <a:spcAft>
                <a:spcPts val="0"/>
              </a:spcAft>
              <a:buNone/>
            </a:pPr>
            <a:r>
              <a:rPr lang="en" sz="2555" u="sng">
                <a:solidFill>
                  <a:schemeClr val="hlink"/>
                </a:solidFill>
                <a:latin typeface="Roboto Slab"/>
                <a:ea typeface="Roboto Slab"/>
                <a:cs typeface="Roboto Slab"/>
                <a:sym typeface="Roboto Slab"/>
                <a:hlinkClick r:id="rId3"/>
              </a:rPr>
              <a:t>A Rogue State Along Two Rivers - The New York Times (nytimes.com)</a:t>
            </a:r>
            <a:endParaRPr sz="2705">
              <a:solidFill>
                <a:srgbClr val="6C6C6C"/>
              </a:solidFill>
              <a:latin typeface="Roboto Slab"/>
              <a:ea typeface="Roboto Slab"/>
              <a:cs typeface="Roboto Slab"/>
              <a:sym typeface="Roboto Slab"/>
            </a:endParaRPr>
          </a:p>
          <a:p>
            <a:pPr indent="0" lvl="0" marL="0" rtl="0" algn="l">
              <a:spcBef>
                <a:spcPts val="1200"/>
              </a:spcBef>
              <a:spcAft>
                <a:spcPts val="0"/>
              </a:spcAft>
              <a:buNone/>
            </a:pPr>
            <a:r>
              <a:rPr lang="en" sz="2555" u="sng">
                <a:solidFill>
                  <a:schemeClr val="hlink"/>
                </a:solidFill>
                <a:latin typeface="Roboto Slab"/>
                <a:ea typeface="Roboto Slab"/>
                <a:cs typeface="Roboto Slab"/>
                <a:sym typeface="Roboto Slab"/>
                <a:hlinkClick r:id="rId4"/>
              </a:rPr>
              <a:t>The Conflicts Along 1,172 Miles of the Dakota Access Pipeline - The New York Times (nytimes.com)</a:t>
            </a:r>
            <a:endParaRPr sz="2705">
              <a:solidFill>
                <a:srgbClr val="6C6C6C"/>
              </a:solidFill>
              <a:latin typeface="Roboto Slab"/>
              <a:ea typeface="Roboto Slab"/>
              <a:cs typeface="Roboto Slab"/>
              <a:sym typeface="Roboto Slab"/>
            </a:endParaRPr>
          </a:p>
          <a:p>
            <a:pPr indent="0" lvl="0" marL="0" rtl="0" algn="l">
              <a:spcBef>
                <a:spcPts val="1200"/>
              </a:spcBef>
              <a:spcAft>
                <a:spcPts val="1200"/>
              </a:spcAft>
              <a:buNone/>
            </a:pPr>
            <a:r>
              <a:rPr lang="en" sz="2705" u="sng">
                <a:solidFill>
                  <a:schemeClr val="hlink"/>
                </a:solidFill>
                <a:latin typeface="Roboto Slab"/>
                <a:ea typeface="Roboto Slab"/>
                <a:cs typeface="Roboto Slab"/>
                <a:sym typeface="Roboto Slab"/>
                <a:hlinkClick r:id="rId5"/>
              </a:rPr>
              <a:t>https://somethingaboutmaps.wordpress.com/2015/09/28/a-matter-of-perspective/</a:t>
            </a:r>
            <a:endParaRPr sz="1460">
              <a:solidFill>
                <a:srgbClr val="6C6C6C"/>
              </a:solidFill>
              <a:latin typeface="Roboto Slab"/>
              <a:ea typeface="Roboto Slab"/>
              <a:cs typeface="Roboto Slab"/>
              <a:sym typeface="Roboto Slab"/>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Multimedia Visual Experiences</a:t>
            </a:r>
            <a:endParaRPr/>
          </a:p>
        </p:txBody>
      </p:sp>
      <p:sp>
        <p:nvSpPr>
          <p:cNvPr id="119" name="Google Shape;119;p18"/>
          <p:cNvSpPr txBox="1"/>
          <p:nvPr>
            <p:ph idx="1" type="body"/>
          </p:nvPr>
        </p:nvSpPr>
        <p:spPr>
          <a:xfrm>
            <a:off x="729450" y="2078875"/>
            <a:ext cx="7688700" cy="28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Roboto Slab"/>
                <a:ea typeface="Roboto Slab"/>
                <a:cs typeface="Roboto Slab"/>
                <a:sym typeface="Roboto Slab"/>
              </a:rPr>
              <a:t>“</a:t>
            </a:r>
            <a:r>
              <a:rPr lang="en" sz="1150">
                <a:solidFill>
                  <a:srgbClr val="6C6C6C"/>
                </a:solidFill>
                <a:latin typeface="Roboto Slab"/>
                <a:ea typeface="Roboto Slab"/>
                <a:cs typeface="Roboto Slab"/>
                <a:sym typeface="Roboto Slab"/>
              </a:rPr>
              <a:t>Multimedia visual experiences combines maps, both static and dynamic, with photos, graphics, audio, and video to create a multifaceted storytelling experience. This genre relies on web-technologies and the readers ability to scroll and pace themselves through the story. “Snowfall” is often considered the first multimedia visual experience in the news. This genre has become increasingly utilized as web-technologies and templates become more accessible”</a:t>
            </a:r>
            <a:endParaRPr sz="1150">
              <a:solidFill>
                <a:srgbClr val="6C6C6C"/>
              </a:solidFill>
              <a:latin typeface="Roboto Slab"/>
              <a:ea typeface="Roboto Slab"/>
              <a:cs typeface="Roboto Slab"/>
              <a:sym typeface="Roboto Slab"/>
            </a:endParaRPr>
          </a:p>
          <a:p>
            <a:pPr indent="0" lvl="0" marL="0" rtl="0" algn="l">
              <a:spcBef>
                <a:spcPts val="1200"/>
              </a:spcBef>
              <a:spcAft>
                <a:spcPts val="0"/>
              </a:spcAft>
              <a:buNone/>
            </a:pPr>
            <a:r>
              <a:t/>
            </a:r>
            <a:endParaRPr sz="1150">
              <a:solidFill>
                <a:srgbClr val="6C6C6C"/>
              </a:solidFill>
              <a:latin typeface="Roboto Slab"/>
              <a:ea typeface="Roboto Slab"/>
              <a:cs typeface="Roboto Slab"/>
              <a:sym typeface="Roboto Slab"/>
            </a:endParaRPr>
          </a:p>
          <a:p>
            <a:pPr indent="0" lvl="0" marL="0" rtl="0" algn="l">
              <a:spcBef>
                <a:spcPts val="1200"/>
              </a:spcBef>
              <a:spcAft>
                <a:spcPts val="0"/>
              </a:spcAft>
              <a:buNone/>
            </a:pPr>
            <a:r>
              <a:rPr lang="en" sz="1150">
                <a:solidFill>
                  <a:srgbClr val="6C6C6C"/>
                </a:solidFill>
                <a:latin typeface="Roboto Slab"/>
                <a:ea typeface="Roboto Slab"/>
                <a:cs typeface="Roboto Slab"/>
                <a:sym typeface="Roboto Slab"/>
              </a:rPr>
              <a:t>Examples include:</a:t>
            </a:r>
            <a:endParaRPr sz="1150">
              <a:solidFill>
                <a:srgbClr val="6C6C6C"/>
              </a:solidFill>
              <a:latin typeface="Roboto Slab"/>
              <a:ea typeface="Roboto Slab"/>
              <a:cs typeface="Roboto Slab"/>
              <a:sym typeface="Roboto Slab"/>
            </a:endParaRPr>
          </a:p>
          <a:p>
            <a:pPr indent="0" lvl="0" marL="0" rtl="0" algn="l">
              <a:spcBef>
                <a:spcPts val="1200"/>
              </a:spcBef>
              <a:spcAft>
                <a:spcPts val="0"/>
              </a:spcAft>
              <a:buNone/>
            </a:pPr>
            <a:r>
              <a:rPr lang="en" sz="1400" u="sng">
                <a:solidFill>
                  <a:schemeClr val="accent5"/>
                </a:solidFill>
                <a:latin typeface="Roboto Slab"/>
                <a:ea typeface="Roboto Slab"/>
                <a:cs typeface="Roboto Slab"/>
                <a:sym typeface="Roboto Slab"/>
                <a:hlinkClick r:id="rId3">
                  <a:extLst>
                    <a:ext uri="{A12FA001-AC4F-418D-AE19-62706E023703}">
                      <ahyp:hlinkClr val="tx"/>
                    </a:ext>
                  </a:extLst>
                </a:hlinkClick>
              </a:rPr>
              <a:t>Devoured: How China’s Poyang lake was decimated by dredging and sand mining (reuters.com)</a:t>
            </a:r>
            <a:endParaRPr sz="1350">
              <a:solidFill>
                <a:srgbClr val="6C6C6C"/>
              </a:solidFill>
              <a:latin typeface="Roboto Slab"/>
              <a:ea typeface="Roboto Slab"/>
              <a:cs typeface="Roboto Slab"/>
              <a:sym typeface="Roboto Slab"/>
            </a:endParaRPr>
          </a:p>
          <a:p>
            <a:pPr indent="0" lvl="0" marL="0" rtl="0" algn="l">
              <a:spcBef>
                <a:spcPts val="1200"/>
              </a:spcBef>
              <a:spcAft>
                <a:spcPts val="1200"/>
              </a:spcAft>
              <a:buNone/>
            </a:pPr>
            <a:r>
              <a:rPr lang="en" sz="1400" u="sng">
                <a:solidFill>
                  <a:schemeClr val="accent5"/>
                </a:solidFill>
                <a:latin typeface="Roboto Slab"/>
                <a:ea typeface="Roboto Slab"/>
                <a:cs typeface="Roboto Slab"/>
                <a:sym typeface="Roboto Slab"/>
                <a:hlinkClick r:id="rId4">
                  <a:extLst>
                    <a:ext uri="{A12FA001-AC4F-418D-AE19-62706E023703}">
                      <ahyp:hlinkClr val="tx"/>
                    </a:ext>
                  </a:extLst>
                </a:hlinkClick>
              </a:rPr>
              <a:t>What the 1921 Tulsa Race Massacre Destroyed - The New York Times (nytimes.com)</a:t>
            </a:r>
            <a:endParaRPr sz="1150">
              <a:solidFill>
                <a:srgbClr val="6C6C6C"/>
              </a:solidFill>
              <a:latin typeface="Roboto Slab"/>
              <a:ea typeface="Roboto Slab"/>
              <a:cs typeface="Roboto Slab"/>
              <a:sym typeface="Roboto Slab"/>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729450" y="1322450"/>
            <a:ext cx="7688400" cy="151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Undergirded by a heap of interlinked technologies emerging in the late 90s to mid-2000s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729450" y="1322450"/>
            <a:ext cx="7688400" cy="151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can’t you do in slippy maps?</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sz="2266">
                <a:latin typeface="Roboto Slab"/>
                <a:ea typeface="Roboto Slab"/>
                <a:cs typeface="Roboto Slab"/>
                <a:sym typeface="Roboto Slab"/>
              </a:rPr>
              <a:t>Is it a you problem or a technology one?</a:t>
            </a:r>
            <a:endParaRPr i="1" sz="2266">
              <a:latin typeface="Roboto Slab"/>
              <a:ea typeface="Roboto Slab"/>
              <a:cs typeface="Roboto Slab"/>
              <a:sym typeface="Roboto Slab"/>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That Wider World</a:t>
            </a:r>
            <a:endParaRPr/>
          </a:p>
        </p:txBody>
      </p:sp>
      <p:sp>
        <p:nvSpPr>
          <p:cNvPr id="135" name="Google Shape;135;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Roboto Slab"/>
              <a:buChar char="●"/>
            </a:pPr>
            <a:r>
              <a:rPr lang="en">
                <a:latin typeface="Roboto Slab"/>
                <a:ea typeface="Roboto Slab"/>
                <a:cs typeface="Roboto Slab"/>
                <a:sym typeface="Roboto Slab"/>
              </a:rPr>
              <a:t>We’re going to spend the rest little bit of the term introducing some powerful, fun alternatives to and extensions of leaflet.</a:t>
            </a:r>
            <a:endParaRPr>
              <a:latin typeface="Roboto Slab"/>
              <a:ea typeface="Roboto Slab"/>
              <a:cs typeface="Roboto Slab"/>
              <a:sym typeface="Roboto Slab"/>
            </a:endParaRPr>
          </a:p>
          <a:p>
            <a:pPr indent="-311150" lvl="0" marL="457200" rtl="0" algn="l">
              <a:spcBef>
                <a:spcPts val="0"/>
              </a:spcBef>
              <a:spcAft>
                <a:spcPts val="0"/>
              </a:spcAft>
              <a:buSzPts val="1300"/>
              <a:buFont typeface="Roboto Slab"/>
              <a:buChar char="●"/>
            </a:pPr>
            <a:r>
              <a:rPr lang="en">
                <a:latin typeface="Roboto Slab"/>
                <a:ea typeface="Roboto Slab"/>
                <a:cs typeface="Roboto Slab"/>
                <a:sym typeface="Roboto Slab"/>
              </a:rPr>
              <a:t>This will help build a more robust set of tools for you to rely upon.</a:t>
            </a:r>
            <a:endParaRPr>
              <a:latin typeface="Roboto Slab"/>
              <a:ea typeface="Roboto Slab"/>
              <a:cs typeface="Roboto Slab"/>
              <a:sym typeface="Roboto Slab"/>
            </a:endParaRPr>
          </a:p>
          <a:p>
            <a:pPr indent="-311150" lvl="0" marL="457200" rtl="0" algn="l">
              <a:spcBef>
                <a:spcPts val="0"/>
              </a:spcBef>
              <a:spcAft>
                <a:spcPts val="0"/>
              </a:spcAft>
              <a:buSzPts val="1300"/>
              <a:buFont typeface="Roboto Slab"/>
              <a:buChar char="●"/>
            </a:pPr>
            <a:r>
              <a:rPr lang="en">
                <a:latin typeface="Roboto Slab"/>
                <a:ea typeface="Roboto Slab"/>
                <a:cs typeface="Roboto Slab"/>
                <a:sym typeface="Roboto Slab"/>
              </a:rPr>
              <a:t>These are only introductory, but it’s meant to show how now that you </a:t>
            </a:r>
            <a:r>
              <a:rPr i="1" lang="en">
                <a:latin typeface="Roboto Slab"/>
                <a:ea typeface="Roboto Slab"/>
                <a:cs typeface="Roboto Slab"/>
                <a:sym typeface="Roboto Slab"/>
              </a:rPr>
              <a:t>know the basics</a:t>
            </a:r>
            <a:r>
              <a:rPr lang="en">
                <a:latin typeface="Roboto Slab"/>
                <a:ea typeface="Roboto Slab"/>
                <a:cs typeface="Roboto Slab"/>
                <a:sym typeface="Roboto Slab"/>
              </a:rPr>
              <a:t>, you can quickly pick up the rest!</a:t>
            </a:r>
            <a:endParaRPr>
              <a:latin typeface="Roboto Slab"/>
              <a:ea typeface="Roboto Slab"/>
              <a:cs typeface="Roboto Slab"/>
              <a:sym typeface="Roboto Slab"/>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2"/>
          <p:cNvPicPr preferRelativeResize="0"/>
          <p:nvPr/>
        </p:nvPicPr>
        <p:blipFill>
          <a:blip r:embed="rId3">
            <a:alphaModFix/>
          </a:blip>
          <a:stretch>
            <a:fillRect/>
          </a:stretch>
        </p:blipFill>
        <p:spPr>
          <a:xfrm>
            <a:off x="1057349" y="0"/>
            <a:ext cx="7029301"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little history…</a:t>
            </a:r>
            <a:endParaRPr/>
          </a:p>
        </p:txBody>
      </p:sp>
      <p:sp>
        <p:nvSpPr>
          <p:cNvPr id="146" name="Google Shape;146;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Roboto Slab"/>
              <a:buChar char="●"/>
            </a:pPr>
            <a:r>
              <a:rPr lang="en">
                <a:latin typeface="Roboto Slab"/>
                <a:ea typeface="Roboto Slab"/>
                <a:cs typeface="Roboto Slab"/>
                <a:sym typeface="Roboto Slab"/>
              </a:rPr>
              <a:t>Project started and managed by Morgan Herlocker</a:t>
            </a:r>
            <a:endParaRPr>
              <a:latin typeface="Roboto Slab"/>
              <a:ea typeface="Roboto Slab"/>
              <a:cs typeface="Roboto Slab"/>
              <a:sym typeface="Roboto Slab"/>
            </a:endParaRPr>
          </a:p>
          <a:p>
            <a:pPr indent="-311150" lvl="0" marL="457200" rtl="0" algn="l">
              <a:spcBef>
                <a:spcPts val="0"/>
              </a:spcBef>
              <a:spcAft>
                <a:spcPts val="0"/>
              </a:spcAft>
              <a:buSzPts val="1300"/>
              <a:buFont typeface="Roboto Slab"/>
              <a:buChar char="●"/>
            </a:pPr>
            <a:r>
              <a:rPr lang="en">
                <a:latin typeface="Roboto Slab"/>
                <a:ea typeface="Roboto Slab"/>
                <a:cs typeface="Roboto Slab"/>
                <a:sym typeface="Roboto Slab"/>
              </a:rPr>
              <a:t>Morgan was then hired by… </a:t>
            </a:r>
            <a:r>
              <a:rPr b="1" lang="en">
                <a:latin typeface="Roboto Slab"/>
                <a:ea typeface="Roboto Slab"/>
                <a:cs typeface="Roboto Slab"/>
                <a:sym typeface="Roboto Slab"/>
              </a:rPr>
              <a:t>Mapbox!</a:t>
            </a:r>
            <a:endParaRPr>
              <a:latin typeface="Roboto Slab"/>
              <a:ea typeface="Roboto Slab"/>
              <a:cs typeface="Roboto Slab"/>
              <a:sym typeface="Roboto Slab"/>
            </a:endParaRPr>
          </a:p>
          <a:p>
            <a:pPr indent="-311150" lvl="0" marL="457200" rtl="0" algn="l">
              <a:spcBef>
                <a:spcPts val="0"/>
              </a:spcBef>
              <a:spcAft>
                <a:spcPts val="0"/>
              </a:spcAft>
              <a:buSzPts val="1300"/>
              <a:buFont typeface="Roboto Slab"/>
              <a:buChar char="●"/>
            </a:pPr>
            <a:r>
              <a:rPr lang="en">
                <a:latin typeface="Roboto Slab"/>
                <a:ea typeface="Roboto Slab"/>
                <a:cs typeface="Roboto Slab"/>
                <a:sym typeface="Roboto Slab"/>
              </a:rPr>
              <a:t>Although, according to his github, he’s now at SpaceX</a:t>
            </a:r>
            <a:endParaRPr>
              <a:latin typeface="Roboto Slab"/>
              <a:ea typeface="Roboto Slab"/>
              <a:cs typeface="Roboto Slab"/>
              <a:sym typeface="Roboto Slab"/>
            </a:endParaRPr>
          </a:p>
        </p:txBody>
      </p:sp>
      <p:pic>
        <p:nvPicPr>
          <p:cNvPr id="147" name="Google Shape;147;p23"/>
          <p:cNvPicPr preferRelativeResize="0"/>
          <p:nvPr/>
        </p:nvPicPr>
        <p:blipFill>
          <a:blip r:embed="rId3">
            <a:alphaModFix/>
          </a:blip>
          <a:stretch>
            <a:fillRect/>
          </a:stretch>
        </p:blipFill>
        <p:spPr>
          <a:xfrm>
            <a:off x="5966897" y="1349775"/>
            <a:ext cx="2451250" cy="37193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head on over to our trusty (terrible) demo map…</a:t>
            </a:r>
            <a:endParaRPr/>
          </a:p>
        </p:txBody>
      </p:sp>
      <p:sp>
        <p:nvSpPr>
          <p:cNvPr id="153" name="Google Shape;153;p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latin typeface="Roboto Slab"/>
                <a:ea typeface="Roboto Slab"/>
                <a:cs typeface="Roboto Slab"/>
                <a:sym typeface="Roboto Slab"/>
              </a:rPr>
              <a:t>Bear in mind, Turf </a:t>
            </a:r>
            <a:r>
              <a:rPr b="1" i="1" lang="en">
                <a:latin typeface="Roboto Slab"/>
                <a:ea typeface="Roboto Slab"/>
                <a:cs typeface="Roboto Slab"/>
                <a:sym typeface="Roboto Slab"/>
              </a:rPr>
              <a:t>literally</a:t>
            </a:r>
            <a:r>
              <a:rPr lang="en">
                <a:latin typeface="Roboto Slab"/>
                <a:ea typeface="Roboto Slab"/>
                <a:cs typeface="Roboto Slab"/>
                <a:sym typeface="Roboto Slab"/>
              </a:rPr>
              <a:t> tells you not to do this as it loads the full 500+kb file. There are directions on the site as to how to ‘minify’ it; but, for this demo… we can go slow.</a:t>
            </a:r>
            <a:endParaRPr>
              <a:latin typeface="Roboto Slab"/>
              <a:ea typeface="Roboto Slab"/>
              <a:cs typeface="Roboto Slab"/>
              <a:sym typeface="Roboto Slab"/>
            </a:endParaRPr>
          </a:p>
        </p:txBody>
      </p:sp>
      <p:pic>
        <p:nvPicPr>
          <p:cNvPr id="154" name="Google Shape;154;p24"/>
          <p:cNvPicPr preferRelativeResize="0"/>
          <p:nvPr/>
        </p:nvPicPr>
        <p:blipFill>
          <a:blip r:embed="rId3">
            <a:alphaModFix/>
          </a:blip>
          <a:stretch>
            <a:fillRect/>
          </a:stretch>
        </p:blipFill>
        <p:spPr>
          <a:xfrm>
            <a:off x="1619250" y="2228850"/>
            <a:ext cx="5905500" cy="342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modify what we have…</a:t>
            </a:r>
            <a:endParaRPr/>
          </a:p>
        </p:txBody>
      </p:sp>
      <p:pic>
        <p:nvPicPr>
          <p:cNvPr id="160" name="Google Shape;160;p25"/>
          <p:cNvPicPr preferRelativeResize="0"/>
          <p:nvPr/>
        </p:nvPicPr>
        <p:blipFill>
          <a:blip r:embed="rId3">
            <a:alphaModFix/>
          </a:blip>
          <a:stretch>
            <a:fillRect/>
          </a:stretch>
        </p:blipFill>
        <p:spPr>
          <a:xfrm>
            <a:off x="152400" y="2006250"/>
            <a:ext cx="4238625" cy="1409700"/>
          </a:xfrm>
          <a:prstGeom prst="rect">
            <a:avLst/>
          </a:prstGeom>
          <a:noFill/>
          <a:ln>
            <a:noFill/>
          </a:ln>
        </p:spPr>
      </p:pic>
      <p:cxnSp>
        <p:nvCxnSpPr>
          <p:cNvPr id="161" name="Google Shape;161;p25"/>
          <p:cNvCxnSpPr/>
          <p:nvPr/>
        </p:nvCxnSpPr>
        <p:spPr>
          <a:xfrm>
            <a:off x="1650675" y="3600775"/>
            <a:ext cx="2522100" cy="311100"/>
          </a:xfrm>
          <a:prstGeom prst="straightConnector1">
            <a:avLst/>
          </a:prstGeom>
          <a:noFill/>
          <a:ln cap="flat" cmpd="sng" w="9525">
            <a:solidFill>
              <a:schemeClr val="dk2"/>
            </a:solidFill>
            <a:prstDash val="solid"/>
            <a:round/>
            <a:headEnd len="med" w="med" type="none"/>
            <a:tailEnd len="med" w="med" type="triangle"/>
          </a:ln>
        </p:spPr>
      </p:cxnSp>
      <p:pic>
        <p:nvPicPr>
          <p:cNvPr id="162" name="Google Shape;162;p25"/>
          <p:cNvPicPr preferRelativeResize="0"/>
          <p:nvPr/>
        </p:nvPicPr>
        <p:blipFill>
          <a:blip r:embed="rId4">
            <a:alphaModFix/>
          </a:blip>
          <a:stretch>
            <a:fillRect/>
          </a:stretch>
        </p:blipFill>
        <p:spPr>
          <a:xfrm>
            <a:off x="4572000" y="2622850"/>
            <a:ext cx="4248150" cy="2266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Boom!</a:t>
            </a:r>
            <a:endParaRPr/>
          </a:p>
        </p:txBody>
      </p:sp>
      <p:pic>
        <p:nvPicPr>
          <p:cNvPr id="168" name="Google Shape;168;p26"/>
          <p:cNvPicPr preferRelativeResize="0"/>
          <p:nvPr/>
        </p:nvPicPr>
        <p:blipFill>
          <a:blip r:embed="rId3">
            <a:alphaModFix/>
          </a:blip>
          <a:stretch>
            <a:fillRect/>
          </a:stretch>
        </p:blipFill>
        <p:spPr>
          <a:xfrm>
            <a:off x="2516313" y="1853850"/>
            <a:ext cx="4114984" cy="2984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729450" y="1322450"/>
            <a:ext cx="7688400" cy="151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Now let’s fancy it up!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do </a:t>
            </a:r>
            <a:r>
              <a:rPr lang="en"/>
              <a:t>more</a:t>
            </a:r>
            <a:r>
              <a:rPr lang="en"/>
              <a:t> of this on Wednesday)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8"/>
          <p:cNvPicPr preferRelativeResize="0"/>
          <p:nvPr/>
        </p:nvPicPr>
        <p:blipFill>
          <a:blip r:embed="rId3">
            <a:alphaModFix/>
          </a:blip>
          <a:stretch>
            <a:fillRect/>
          </a:stretch>
        </p:blipFill>
        <p:spPr>
          <a:xfrm>
            <a:off x="152400" y="152400"/>
            <a:ext cx="8420197"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